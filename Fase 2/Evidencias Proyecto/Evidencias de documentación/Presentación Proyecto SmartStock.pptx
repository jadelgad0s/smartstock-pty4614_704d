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8YPJuPmU/TVe+G4l9Qw4UsEsx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fa85186b86_0_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" name="Google Shape;12;g3fa85186b86_0_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cap="flat" cmpd="sng" w="12700">
            <a:solidFill>
              <a:srgbClr val="F7F9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B7AE"/>
          </a:solidFill>
          <a:ln cap="flat" cmpd="sng" w="12700">
            <a:solidFill>
              <a:srgbClr val="19B7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g3fa85186b86_0_4" title="7c421362-10fe-4837-b744-20040f653ce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875" y="-22450"/>
            <a:ext cx="12231875" cy="694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"/>
          <p:cNvSpPr/>
          <p:nvPr/>
        </p:nvSpPr>
        <p:spPr>
          <a:xfrm>
            <a:off x="6184437" y="0"/>
            <a:ext cx="54864" cy="6858000"/>
          </a:xfrm>
          <a:prstGeom prst="rect">
            <a:avLst/>
          </a:prstGeom>
          <a:solidFill>
            <a:srgbClr val="0E1F33">
              <a:alpha val="85098"/>
            </a:srgbClr>
          </a:solidFill>
          <a:ln cap="flat" cmpd="sng" w="12700">
            <a:solidFill>
              <a:srgbClr val="0E1F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58368" y="658368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CONTEXTO DEL PROYECTO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58368" y="1207008"/>
            <a:ext cx="6263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Problemática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76656" y="1901952"/>
            <a:ext cx="960120" cy="64008"/>
          </a:xfrm>
          <a:prstGeom prst="rect">
            <a:avLst/>
          </a:prstGeom>
          <a:solidFill>
            <a:srgbClr val="19B7AE"/>
          </a:solidFill>
          <a:ln cap="flat" cmpd="sng" w="12700">
            <a:solidFill>
              <a:srgbClr val="19B7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76656" y="2194560"/>
            <a:ext cx="541934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265"/>
              </a:buClr>
              <a:buSzPts val="1750"/>
              <a:buFont typeface="Arial"/>
              <a:buNone/>
            </a:pPr>
            <a:r>
              <a:rPr lang="en-US" sz="1750">
                <a:solidFill>
                  <a:srgbClr val="405265"/>
                </a:solidFill>
                <a:latin typeface="Arial"/>
                <a:ea typeface="Arial"/>
                <a:cs typeface="Arial"/>
                <a:sym typeface="Arial"/>
              </a:rPr>
              <a:t>Las PYMEs necesitan controlar mejor su inventario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76656" y="2788920"/>
            <a:ext cx="5419344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84B"/>
              </a:buClr>
              <a:buSzPts val="1430"/>
              <a:buFont typeface="Arial"/>
              <a:buNone/>
            </a:pPr>
            <a:r>
              <a:rPr lang="en-US" sz="1430">
                <a:solidFill>
                  <a:srgbClr val="23384B"/>
                </a:solidFill>
                <a:latin typeface="Arial"/>
                <a:ea typeface="Arial"/>
                <a:cs typeface="Arial"/>
                <a:sym typeface="Arial"/>
              </a:rPr>
              <a:t>Muchos negocios aún administran productos, bodegas y movimientos con planillas o registros poco integrados. Esto dificulta saber cuánto stock existe, dónde se encuentra y cuándo reponer.</a:t>
            </a:r>
            <a:endParaRPr sz="14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13232" y="3840480"/>
            <a:ext cx="393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170432" y="3831336"/>
            <a:ext cx="49255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Diferencias entre stock físico y registrado.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13232" y="4343400"/>
            <a:ext cx="393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170432" y="4334256"/>
            <a:ext cx="49255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Pérdida de trazabilidad en entradas, salidas y mermas.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13232" y="4846320"/>
            <a:ext cx="393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170432" y="4837176"/>
            <a:ext cx="4801443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Decisiones tardías por falta de información actualizada.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76656" y="5989320"/>
            <a:ext cx="777240" cy="45720"/>
          </a:xfrm>
          <a:prstGeom prst="rect">
            <a:avLst/>
          </a:prstGeom>
          <a:solidFill>
            <a:srgbClr val="19B7AE"/>
          </a:solidFill>
          <a:ln cap="flat" cmpd="sng" w="12700">
            <a:solidFill>
              <a:srgbClr val="19B7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76656" y="6163056"/>
            <a:ext cx="5295219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265"/>
              </a:buClr>
              <a:buSzPts val="1240"/>
              <a:buFont typeface="Arial"/>
              <a:buNone/>
            </a:pPr>
            <a:r>
              <a:rPr b="1" lang="en-US" sz="1240">
                <a:solidFill>
                  <a:srgbClr val="405265"/>
                </a:solidFill>
                <a:latin typeface="Arial"/>
                <a:ea typeface="Arial"/>
                <a:cs typeface="Arial"/>
                <a:sym typeface="Arial"/>
              </a:rPr>
              <a:t>Impacto: pérdidas, quiebres de stock y menor control operativo.</a:t>
            </a:r>
            <a:endParaRPr sz="1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7269480" y="6245352"/>
            <a:ext cx="320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p1"/>
          <p:cNvPicPr preferRelativeResize="0"/>
          <p:nvPr/>
        </p:nvPicPr>
        <p:blipFill rotWithShape="1">
          <a:blip r:embed="rId3">
            <a:alphaModFix/>
          </a:blip>
          <a:srcRect b="0" l="47097" r="3376" t="0"/>
          <a:stretch/>
        </p:blipFill>
        <p:spPr>
          <a:xfrm>
            <a:off x="6220126" y="0"/>
            <a:ext cx="5971874" cy="6951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6173724" y="0"/>
            <a:ext cx="54864" cy="6858000"/>
          </a:xfrm>
          <a:prstGeom prst="rect">
            <a:avLst/>
          </a:prstGeom>
          <a:solidFill>
            <a:srgbClr val="0E1F33">
              <a:alpha val="85098"/>
            </a:srgbClr>
          </a:solidFill>
          <a:ln cap="flat" cmpd="sng" w="12700">
            <a:solidFill>
              <a:srgbClr val="0E1F3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658368" y="658368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58368" y="1207008"/>
            <a:ext cx="6263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¿Qué es SmartStock?</a:t>
            </a: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76656" y="1901952"/>
            <a:ext cx="960120" cy="64008"/>
          </a:xfrm>
          <a:prstGeom prst="rect">
            <a:avLst/>
          </a:prstGeom>
          <a:solidFill>
            <a:srgbClr val="19B7AE"/>
          </a:solidFill>
          <a:ln cap="flat" cmpd="sng" w="12700">
            <a:solidFill>
              <a:srgbClr val="19B7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76656" y="2194560"/>
            <a:ext cx="5706389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265"/>
              </a:buClr>
              <a:buSzPts val="1618"/>
              <a:buFont typeface="Arial"/>
              <a:buNone/>
            </a:pPr>
            <a:r>
              <a:rPr lang="en-US" sz="1619">
                <a:solidFill>
                  <a:srgbClr val="405265"/>
                </a:solidFill>
                <a:latin typeface="Arial"/>
                <a:ea typeface="Arial"/>
                <a:cs typeface="Arial"/>
                <a:sym typeface="Arial"/>
              </a:rPr>
              <a:t>Una plataforma para centralizar y automatizar el inventario</a:t>
            </a:r>
            <a:endParaRPr sz="161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76656" y="2788920"/>
            <a:ext cx="541934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3384B"/>
              </a:buClr>
              <a:buSzPts val="1430"/>
              <a:buFont typeface="Arial"/>
              <a:buNone/>
            </a:pPr>
            <a:r>
              <a:rPr lang="en-US" sz="1430">
                <a:solidFill>
                  <a:srgbClr val="23384B"/>
                </a:solidFill>
                <a:latin typeface="Arial"/>
                <a:ea typeface="Arial"/>
                <a:cs typeface="Arial"/>
                <a:sym typeface="Arial"/>
              </a:rPr>
              <a:t>SmartStock permitirá administrar productos, sucursales, bodegas, ubicaciones y movimientos de stock desde una solución integrada, con información actualizada y trazable para apoyar la operación diaria de PYMEs.</a:t>
            </a:r>
            <a:endParaRPr sz="14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13232" y="3822192"/>
            <a:ext cx="393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170432" y="3813048"/>
            <a:ext cx="49255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Productos identificados por SKU y código de barras o QR.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13232" y="4261104"/>
            <a:ext cx="393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170432" y="4251960"/>
            <a:ext cx="49255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Entradas, salidas, transferencias y mermas registradas.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13232" y="4700016"/>
            <a:ext cx="393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170432" y="4690872"/>
            <a:ext cx="49255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Stock visible por sucursal, bodega y ubicación física.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13232" y="5138928"/>
            <a:ext cx="39319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8C85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28C8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70432" y="5129784"/>
            <a:ext cx="49255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1F33"/>
              </a:buClr>
              <a:buSzPts val="1420"/>
              <a:buFont typeface="Arial"/>
              <a:buNone/>
            </a:pPr>
            <a:r>
              <a:rPr lang="en-US" sz="1420">
                <a:solidFill>
                  <a:srgbClr val="0E1F33"/>
                </a:solidFill>
                <a:latin typeface="Arial"/>
                <a:ea typeface="Arial"/>
                <a:cs typeface="Arial"/>
                <a:sym typeface="Arial"/>
              </a:rPr>
              <a:t>Alertas para anticipar quiebres y apoyar la reposición.</a:t>
            </a:r>
            <a:endParaRPr sz="14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76656" y="5989320"/>
            <a:ext cx="777240" cy="45720"/>
          </a:xfrm>
          <a:prstGeom prst="rect">
            <a:avLst/>
          </a:prstGeom>
          <a:solidFill>
            <a:srgbClr val="19B7AE"/>
          </a:solidFill>
          <a:ln cap="flat" cmpd="sng" w="12700">
            <a:solidFill>
              <a:srgbClr val="19B7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76656" y="6163056"/>
            <a:ext cx="54193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265"/>
              </a:buClr>
              <a:buSzPts val="1147"/>
              <a:buFont typeface="Arial"/>
              <a:buNone/>
            </a:pPr>
            <a:r>
              <a:rPr b="1" lang="en-US" sz="1147">
                <a:solidFill>
                  <a:srgbClr val="405265"/>
                </a:solidFill>
                <a:latin typeface="Arial"/>
                <a:ea typeface="Arial"/>
                <a:cs typeface="Arial"/>
                <a:sym typeface="Arial"/>
              </a:rPr>
              <a:t>Resultado esperado: mayor control, menos errores y decisiones más oportunas.</a:t>
            </a:r>
            <a:endParaRPr sz="114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262011" y="6576489"/>
            <a:ext cx="320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9AA5B1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2"/>
          <p:cNvPicPr preferRelativeResize="0"/>
          <p:nvPr/>
        </p:nvPicPr>
        <p:blipFill rotWithShape="1">
          <a:blip r:embed="rId3">
            <a:alphaModFix/>
          </a:blip>
          <a:srcRect b="0" l="48222" r="1819" t="0"/>
          <a:stretch/>
        </p:blipFill>
        <p:spPr>
          <a:xfrm>
            <a:off x="6202791" y="-1"/>
            <a:ext cx="6087700" cy="6924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8" y="0"/>
            <a:ext cx="121855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wide_professional_modern_corporate_industrial.png" id="69" name="Google Shape;69;p4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/>
          <p:nvPr/>
        </p:nvSpPr>
        <p:spPr>
          <a:xfrm>
            <a:off x="0" y="0"/>
            <a:ext cx="5230368" cy="6858000"/>
          </a:xfrm>
          <a:prstGeom prst="rect">
            <a:avLst/>
          </a:prstGeom>
          <a:solidFill>
            <a:srgbClr val="FFFFFF">
              <a:alpha val="94902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58368" y="65836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8D8A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B8D8A"/>
                </a:solidFill>
                <a:latin typeface="Arial"/>
                <a:ea typeface="Arial"/>
                <a:cs typeface="Arial"/>
                <a:sym typeface="Arial"/>
              </a:rPr>
              <a:t>ROLES DEL SISTEMA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58368" y="1060704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B33"/>
              </a:buClr>
              <a:buSzPts val="3400"/>
              <a:buFont typeface="Play"/>
              <a:buNone/>
            </a:pPr>
            <a:r>
              <a:rPr b="1" lang="en-US" sz="3400">
                <a:solidFill>
                  <a:srgbClr val="071B33"/>
                </a:solidFill>
                <a:latin typeface="Play"/>
                <a:ea typeface="Play"/>
                <a:cs typeface="Play"/>
                <a:sym typeface="Play"/>
              </a:rPr>
              <a:t>Usuarios y roles</a:t>
            </a:r>
            <a:endParaRPr sz="3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58368" y="1737360"/>
            <a:ext cx="1024128" cy="64008"/>
          </a:xfrm>
          <a:prstGeom prst="rect">
            <a:avLst/>
          </a:prstGeom>
          <a:solidFill>
            <a:srgbClr val="23C6BE"/>
          </a:solidFill>
          <a:ln cap="flat" cmpd="sng" w="12700">
            <a:solidFill>
              <a:srgbClr val="23C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658368" y="2048256"/>
            <a:ext cx="41605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526"/>
              <a:buFont typeface="Arial"/>
              <a:buNone/>
            </a:pPr>
            <a:r>
              <a:rPr lang="en-US" sz="1526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SmartStock define permisos según el rol de cada usuario, permitiendo que cada integrante acceda solo a las funciones necesarias para su trabajo.</a:t>
            </a:r>
            <a:endParaRPr sz="1526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03504" y="2999232"/>
            <a:ext cx="4343400" cy="804672"/>
          </a:xfrm>
          <a:prstGeom prst="roundRect">
            <a:avLst>
              <a:gd fmla="val 13636" name="adj"/>
            </a:avLst>
          </a:prstGeom>
          <a:solidFill>
            <a:srgbClr val="F4FBFC">
              <a:alpha val="98039"/>
            </a:srgbClr>
          </a:solidFill>
          <a:ln cap="flat" cmpd="sng" w="10150">
            <a:solidFill>
              <a:srgbClr val="D9F1F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DEDEE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32104" y="3163824"/>
            <a:ext cx="475488" cy="475488"/>
          </a:xfrm>
          <a:prstGeom prst="ellipse">
            <a:avLst/>
          </a:prstGeom>
          <a:solidFill>
            <a:srgbClr val="E4FFFD"/>
          </a:solidFill>
          <a:ln cap="flat" cmpd="sng" w="9525">
            <a:solidFill>
              <a:srgbClr val="BDF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32104" y="3255264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E99"/>
              </a:buClr>
              <a:buSzPts val="1250"/>
              <a:buFont typeface="Play"/>
              <a:buNone/>
            </a:pPr>
            <a:r>
              <a:rPr b="1" lang="en-US" sz="1250">
                <a:solidFill>
                  <a:srgbClr val="0F9E99"/>
                </a:solidFill>
                <a:latin typeface="Play"/>
                <a:ea typeface="Play"/>
                <a:cs typeface="Play"/>
                <a:sym typeface="Play"/>
              </a:rPr>
              <a:t>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481328" y="3127248"/>
            <a:ext cx="3127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B33"/>
              </a:buClr>
              <a:buSzPts val="1520"/>
              <a:buFont typeface="Play"/>
              <a:buNone/>
            </a:pPr>
            <a:r>
              <a:rPr b="1" lang="en-US" sz="1520">
                <a:solidFill>
                  <a:srgbClr val="071B33"/>
                </a:solidFill>
                <a:latin typeface="Play"/>
                <a:ea typeface="Play"/>
                <a:cs typeface="Play"/>
                <a:sym typeface="Play"/>
              </a:rPr>
              <a:t>Administrador</a:t>
            </a:r>
            <a:endParaRPr sz="15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481328" y="3392424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99"/>
              <a:buFont typeface="Arial"/>
              <a:buNone/>
            </a:pPr>
            <a:r>
              <a:rPr lang="en-US" sz="999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Gestiona usuarios, roles, productos, sucursales, bodegas, alertas y reportes.</a:t>
            </a:r>
            <a:endParaRPr sz="99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03504" y="3931920"/>
            <a:ext cx="4343400" cy="804672"/>
          </a:xfrm>
          <a:prstGeom prst="roundRect">
            <a:avLst>
              <a:gd fmla="val 13636" name="adj"/>
            </a:avLst>
          </a:prstGeom>
          <a:solidFill>
            <a:srgbClr val="F4FBFC">
              <a:alpha val="98039"/>
            </a:srgbClr>
          </a:solidFill>
          <a:ln cap="flat" cmpd="sng" w="10150">
            <a:solidFill>
              <a:srgbClr val="D9F1F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DEDEE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32104" y="4096512"/>
            <a:ext cx="475488" cy="475488"/>
          </a:xfrm>
          <a:prstGeom prst="ellipse">
            <a:avLst/>
          </a:prstGeom>
          <a:solidFill>
            <a:srgbClr val="E4FFFD"/>
          </a:solidFill>
          <a:ln cap="flat" cmpd="sng" w="9525">
            <a:solidFill>
              <a:srgbClr val="BDF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32104" y="4187952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E99"/>
              </a:buClr>
              <a:buSzPts val="1250"/>
              <a:buFont typeface="Play"/>
              <a:buNone/>
            </a:pPr>
            <a:r>
              <a:rPr b="1" lang="en-US" sz="1250">
                <a:solidFill>
                  <a:srgbClr val="0F9E99"/>
                </a:solidFill>
                <a:latin typeface="Play"/>
                <a:ea typeface="Play"/>
                <a:cs typeface="Play"/>
                <a:sym typeface="Play"/>
              </a:rPr>
              <a:t>B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481328" y="4059936"/>
            <a:ext cx="3127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B33"/>
              </a:buClr>
              <a:buSzPts val="1520"/>
              <a:buFont typeface="Play"/>
              <a:buNone/>
            </a:pPr>
            <a:r>
              <a:rPr b="1" lang="en-US" sz="1520">
                <a:solidFill>
                  <a:srgbClr val="071B33"/>
                </a:solidFill>
                <a:latin typeface="Play"/>
                <a:ea typeface="Play"/>
                <a:cs typeface="Play"/>
                <a:sym typeface="Play"/>
              </a:rPr>
              <a:t>Encargado de bodega</a:t>
            </a:r>
            <a:endParaRPr sz="15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481328" y="4325112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99"/>
              <a:buFont typeface="Arial"/>
              <a:buNone/>
            </a:pPr>
            <a:r>
              <a:rPr lang="en-US" sz="999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Controla stock, ubicaciones, transferencias, mermas, conteos y ajustes.</a:t>
            </a:r>
            <a:endParaRPr sz="99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03504" y="4864608"/>
            <a:ext cx="4343400" cy="804672"/>
          </a:xfrm>
          <a:prstGeom prst="roundRect">
            <a:avLst>
              <a:gd fmla="val 13636" name="adj"/>
            </a:avLst>
          </a:prstGeom>
          <a:solidFill>
            <a:srgbClr val="F4FBFC">
              <a:alpha val="98039"/>
            </a:srgbClr>
          </a:solidFill>
          <a:ln cap="flat" cmpd="sng" w="10150">
            <a:solidFill>
              <a:srgbClr val="D9F1F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DEDEE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32104" y="5029200"/>
            <a:ext cx="475488" cy="475488"/>
          </a:xfrm>
          <a:prstGeom prst="ellipse">
            <a:avLst/>
          </a:prstGeom>
          <a:solidFill>
            <a:srgbClr val="E4FFFD"/>
          </a:solidFill>
          <a:ln cap="flat" cmpd="sng" w="9525">
            <a:solidFill>
              <a:srgbClr val="BDF3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32104" y="5120640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9E99"/>
              </a:buClr>
              <a:buSzPts val="1250"/>
              <a:buFont typeface="Play"/>
              <a:buNone/>
            </a:pPr>
            <a:r>
              <a:rPr b="1" lang="en-US" sz="1250">
                <a:solidFill>
                  <a:srgbClr val="0F9E99"/>
                </a:solidFill>
                <a:latin typeface="Play"/>
                <a:ea typeface="Play"/>
                <a:cs typeface="Play"/>
                <a:sym typeface="Play"/>
              </a:rPr>
              <a:t>O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481328" y="4992624"/>
            <a:ext cx="31272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B33"/>
              </a:buClr>
              <a:buSzPts val="1520"/>
              <a:buFont typeface="Play"/>
              <a:buNone/>
            </a:pPr>
            <a:r>
              <a:rPr b="1" lang="en-US" sz="1520">
                <a:solidFill>
                  <a:srgbClr val="071B33"/>
                </a:solidFill>
                <a:latin typeface="Play"/>
                <a:ea typeface="Play"/>
                <a:cs typeface="Play"/>
                <a:sym typeface="Play"/>
              </a:rPr>
              <a:t>Trabajador de bodega</a:t>
            </a:r>
            <a:endParaRPr sz="15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481328" y="525780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999"/>
              <a:buFont typeface="Arial"/>
              <a:buNone/>
            </a:pPr>
            <a:r>
              <a:rPr lang="en-US" sz="999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Escanea productos, registra entradas y salidas, y consulta disponibilidad.</a:t>
            </a:r>
            <a:endParaRPr sz="999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58368" y="6254496"/>
            <a:ext cx="786384" cy="50292"/>
          </a:xfrm>
          <a:prstGeom prst="rect">
            <a:avLst/>
          </a:prstGeom>
          <a:solidFill>
            <a:srgbClr val="23C6BE"/>
          </a:solidFill>
          <a:ln cap="flat" cmpd="sng" w="12700">
            <a:solidFill>
              <a:srgbClr val="23C6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658368" y="6419088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46A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44546A"/>
                </a:solidFill>
                <a:latin typeface="Arial"/>
                <a:ea typeface="Arial"/>
                <a:cs typeface="Arial"/>
                <a:sym typeface="Arial"/>
              </a:rPr>
              <a:t>Acceso seguro, responsabilidades claras y trazabilidad por usuario.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clean_modern_office_warehouse_workspace_sce.png" id="97" name="Google Shape;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658368" y="731520"/>
            <a:ext cx="434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9E99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0B9E99"/>
                </a:solidFill>
                <a:latin typeface="Arial"/>
                <a:ea typeface="Arial"/>
                <a:cs typeface="Arial"/>
                <a:sym typeface="Arial"/>
              </a:rPr>
              <a:t>DOCUMENTACIÓN FASE 1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58368" y="1133856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733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0A1733"/>
                </a:solidFill>
                <a:latin typeface="Play"/>
                <a:ea typeface="Play"/>
                <a:cs typeface="Play"/>
                <a:sym typeface="Play"/>
              </a:rPr>
              <a:t>Avance de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733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0A1733"/>
                </a:solidFill>
                <a:latin typeface="Play"/>
                <a:ea typeface="Play"/>
                <a:cs typeface="Play"/>
                <a:sym typeface="Play"/>
              </a:rPr>
              <a:t>documentación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658368" y="2267712"/>
            <a:ext cx="1005840" cy="54864"/>
          </a:xfrm>
          <a:prstGeom prst="rect">
            <a:avLst/>
          </a:prstGeom>
          <a:solidFill>
            <a:srgbClr val="0CBFB3"/>
          </a:solidFill>
          <a:ln cap="flat" cmpd="sng" w="12700">
            <a:solidFill>
              <a:srgbClr val="0CBFB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58368" y="2514600"/>
            <a:ext cx="46177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5066"/>
              </a:buClr>
              <a:buSzPts val="1433"/>
              <a:buFont typeface="Arial"/>
              <a:buNone/>
            </a:pPr>
            <a:r>
              <a:rPr lang="en-US" sz="1434">
                <a:solidFill>
                  <a:srgbClr val="3F5066"/>
                </a:solidFill>
                <a:latin typeface="Arial"/>
                <a:ea typeface="Arial"/>
                <a:cs typeface="Arial"/>
                <a:sym typeface="Arial"/>
              </a:rPr>
              <a:t>En esta etapa se consolidan los documentos base que ordenan el alcance, los requerimientos y la planificación ágil de SmartStock.</a:t>
            </a:r>
            <a:endParaRPr sz="1434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58368" y="3429000"/>
            <a:ext cx="4800600" cy="658368"/>
          </a:xfrm>
          <a:prstGeom prst="roundRect">
            <a:avLst>
              <a:gd fmla="val 11111" name="adj"/>
            </a:avLst>
          </a:prstGeom>
          <a:solidFill>
            <a:srgbClr val="F4FBFB">
              <a:alpha val="92157"/>
            </a:srgbClr>
          </a:solidFill>
          <a:ln cap="flat" cmpd="sng" w="12700">
            <a:solidFill>
              <a:srgbClr val="D9F0F0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822960" y="3566160"/>
            <a:ext cx="384048" cy="384048"/>
          </a:xfrm>
          <a:prstGeom prst="ellipse">
            <a:avLst/>
          </a:prstGeom>
          <a:solidFill>
            <a:srgbClr val="D9F7F5"/>
          </a:solidFill>
          <a:ln cap="flat" cmpd="sng" w="12700">
            <a:solidFill>
              <a:srgbClr val="BDEEE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22960" y="3648456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9E99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B9E9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353312" y="3557016"/>
            <a:ext cx="3886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733"/>
              </a:buClr>
              <a:buSzPts val="1350"/>
              <a:buFont typeface="Play"/>
              <a:buNone/>
            </a:pPr>
            <a:r>
              <a:rPr b="1" lang="en-US" sz="1350">
                <a:solidFill>
                  <a:srgbClr val="0A1733"/>
                </a:solidFill>
                <a:latin typeface="Play"/>
                <a:ea typeface="Play"/>
                <a:cs typeface="Play"/>
                <a:sym typeface="Play"/>
              </a:rPr>
              <a:t>Acta de Constitución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353312" y="3794760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066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3F5066"/>
                </a:solidFill>
                <a:latin typeface="Arial"/>
                <a:ea typeface="Arial"/>
                <a:cs typeface="Arial"/>
                <a:sym typeface="Arial"/>
              </a:rPr>
              <a:t>Propósito, alcance, objetivos, interesados, riesgos y presupuesto.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58368" y="4297680"/>
            <a:ext cx="4800600" cy="658368"/>
          </a:xfrm>
          <a:prstGeom prst="roundRect">
            <a:avLst>
              <a:gd fmla="val 11111" name="adj"/>
            </a:avLst>
          </a:prstGeom>
          <a:solidFill>
            <a:srgbClr val="F4FBFB">
              <a:alpha val="92157"/>
            </a:srgbClr>
          </a:solidFill>
          <a:ln cap="flat" cmpd="sng" w="12700">
            <a:solidFill>
              <a:srgbClr val="D9F0F0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822960" y="4434840"/>
            <a:ext cx="384048" cy="384048"/>
          </a:xfrm>
          <a:prstGeom prst="ellipse">
            <a:avLst/>
          </a:prstGeom>
          <a:solidFill>
            <a:srgbClr val="D9F7F5"/>
          </a:solidFill>
          <a:ln cap="flat" cmpd="sng" w="12700">
            <a:solidFill>
              <a:srgbClr val="BDEEE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822960" y="4517136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9E99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B9E9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1353312" y="4425696"/>
            <a:ext cx="3886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733"/>
              </a:buClr>
              <a:buSzPts val="1350"/>
              <a:buFont typeface="Play"/>
              <a:buNone/>
            </a:pPr>
            <a:r>
              <a:rPr b="1" lang="en-US" sz="1350">
                <a:solidFill>
                  <a:srgbClr val="0A1733"/>
                </a:solidFill>
                <a:latin typeface="Play"/>
                <a:ea typeface="Play"/>
                <a:cs typeface="Play"/>
                <a:sym typeface="Play"/>
              </a:rPr>
              <a:t>Épicas e historias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1353312" y="4663440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066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3F5066"/>
                </a:solidFill>
                <a:latin typeface="Arial"/>
                <a:ea typeface="Arial"/>
                <a:cs typeface="Arial"/>
                <a:sym typeface="Arial"/>
              </a:rPr>
              <a:t>Épicas priorizadas, historias de usuario y criterios de aceptación.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58368" y="5166360"/>
            <a:ext cx="4800600" cy="658368"/>
          </a:xfrm>
          <a:prstGeom prst="roundRect">
            <a:avLst>
              <a:gd fmla="val 11111" name="adj"/>
            </a:avLst>
          </a:prstGeom>
          <a:solidFill>
            <a:srgbClr val="F4FBFB">
              <a:alpha val="92157"/>
            </a:srgbClr>
          </a:solidFill>
          <a:ln cap="flat" cmpd="sng" w="12700">
            <a:solidFill>
              <a:srgbClr val="D9F0F0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822960" y="5303520"/>
            <a:ext cx="384048" cy="384048"/>
          </a:xfrm>
          <a:prstGeom prst="ellipse">
            <a:avLst/>
          </a:prstGeom>
          <a:solidFill>
            <a:srgbClr val="D9F7F5"/>
          </a:solidFill>
          <a:ln cap="flat" cmpd="sng" w="12700">
            <a:solidFill>
              <a:srgbClr val="BDEEEB">
                <a:alpha val="9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22960" y="5385816"/>
            <a:ext cx="38404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9E99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B9E9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353312" y="5294376"/>
            <a:ext cx="3886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733"/>
              </a:buClr>
              <a:buSzPts val="1350"/>
              <a:buFont typeface="Play"/>
              <a:buNone/>
            </a:pPr>
            <a:r>
              <a:rPr b="1" lang="en-US" sz="1350">
                <a:solidFill>
                  <a:srgbClr val="0A1733"/>
                </a:solidFill>
                <a:latin typeface="Play"/>
                <a:ea typeface="Play"/>
                <a:cs typeface="Play"/>
                <a:sym typeface="Play"/>
              </a:rPr>
              <a:t>Product Backlog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1353312" y="5532120"/>
            <a:ext cx="3977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066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3F5066"/>
                </a:solidFill>
                <a:latin typeface="Arial"/>
                <a:ea typeface="Arial"/>
                <a:cs typeface="Arial"/>
                <a:sym typeface="Arial"/>
              </a:rPr>
              <a:t>Priorización MoSCoW, Planning Poker, puntos de historia y Sprints.</a:t>
            </a:r>
            <a:endParaRPr sz="9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58368" y="6144768"/>
            <a:ext cx="822960" cy="50292"/>
          </a:xfrm>
          <a:prstGeom prst="rect">
            <a:avLst/>
          </a:prstGeom>
          <a:solidFill>
            <a:srgbClr val="0CBFB3"/>
          </a:solidFill>
          <a:ln cap="flat" cmpd="sng" w="12700">
            <a:solidFill>
              <a:srgbClr val="0CBFB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58368" y="6336792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5066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3F5066"/>
                </a:solidFill>
                <a:latin typeface="Arial"/>
                <a:ea typeface="Arial"/>
                <a:cs typeface="Arial"/>
                <a:sym typeface="Arial"/>
              </a:rPr>
              <a:t>Fase 1 lista para iniciar la etapa de desarrollo.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11402568" y="632764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796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7A879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9857232" y="62910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lay"/>
              <a:buNone/>
            </a:pPr>
            <a:r>
              <a:rPr b="1" lang="en-US" sz="13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SmartStock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clean_corporate_tech_warehouse_office_scene.png"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/>
          <p:nvPr/>
        </p:nvSpPr>
        <p:spPr>
          <a:xfrm>
            <a:off x="658368" y="713232"/>
            <a:ext cx="4480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METODOLOGÍA DE TRABAJO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58368" y="1325880"/>
            <a:ext cx="466344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07142E"/>
                </a:solidFill>
                <a:latin typeface="Play"/>
                <a:ea typeface="Play"/>
                <a:cs typeface="Play"/>
                <a:sym typeface="Play"/>
              </a:rPr>
              <a:t>Scrum aplicado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07142E"/>
                </a:solidFill>
                <a:latin typeface="Play"/>
                <a:ea typeface="Play"/>
                <a:cs typeface="Play"/>
                <a:sym typeface="Play"/>
              </a:rPr>
              <a:t>a SmartStock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58368" y="2487168"/>
            <a:ext cx="969264" cy="50292"/>
          </a:xfrm>
          <a:prstGeom prst="rect">
            <a:avLst/>
          </a:prstGeom>
          <a:solidFill>
            <a:srgbClr val="20BFB6"/>
          </a:solidFill>
          <a:ln cap="flat" cmpd="sng" w="12700">
            <a:solidFill>
              <a:srgbClr val="20BFB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58368" y="2761488"/>
            <a:ext cx="4800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1572"/>
              <a:buFont typeface="Arial"/>
              <a:buNone/>
            </a:pPr>
            <a:r>
              <a:rPr lang="en-US" sz="1573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El proyecto se organizará en 6 Sprints, permitiendo avanzar desde la planificación inicial hasta una versión final integrada y funcional.</a:t>
            </a:r>
            <a:endParaRPr sz="157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58368" y="3703320"/>
            <a:ext cx="4937760" cy="603504"/>
          </a:xfrm>
          <a:prstGeom prst="roundRect">
            <a:avLst>
              <a:gd fmla="val 12121" name="adj"/>
            </a:avLst>
          </a:prstGeom>
          <a:solidFill>
            <a:srgbClr val="F3FBFC">
              <a:alpha val="92157"/>
            </a:srgbClr>
          </a:solidFill>
          <a:ln cap="flat" cmpd="sng" w="9525">
            <a:solidFill>
              <a:srgbClr val="D8EBE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41248" y="3849624"/>
            <a:ext cx="310896" cy="310896"/>
          </a:xfrm>
          <a:prstGeom prst="ellipse">
            <a:avLst/>
          </a:prstGeom>
          <a:solidFill>
            <a:srgbClr val="C8F4F1"/>
          </a:solidFill>
          <a:ln cap="flat" cmpd="sng" w="12700">
            <a:solidFill>
              <a:srgbClr val="C9F2E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41248" y="3890772"/>
            <a:ext cx="310896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261872" y="3794760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7142E"/>
                </a:solidFill>
                <a:latin typeface="Arial"/>
                <a:ea typeface="Arial"/>
                <a:cs typeface="Arial"/>
                <a:sym typeface="Arial"/>
              </a:rPr>
              <a:t>Product Owner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261872" y="3995928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52"/>
              <a:buFont typeface="Arial"/>
              <a:buNone/>
            </a:pPr>
            <a:r>
              <a:rPr lang="en-US" sz="953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Javier Delgado</a:t>
            </a:r>
            <a:endParaRPr sz="9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52"/>
              <a:buFont typeface="Arial"/>
              <a:buNone/>
            </a:pPr>
            <a:r>
              <a:rPr lang="en-US" sz="953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prioriza y define el valor del producto.</a:t>
            </a:r>
            <a:endParaRPr sz="9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58368" y="4453128"/>
            <a:ext cx="4937760" cy="603504"/>
          </a:xfrm>
          <a:prstGeom prst="roundRect">
            <a:avLst>
              <a:gd fmla="val 12121" name="adj"/>
            </a:avLst>
          </a:prstGeom>
          <a:solidFill>
            <a:srgbClr val="F3FBFC">
              <a:alpha val="92157"/>
            </a:srgbClr>
          </a:solidFill>
          <a:ln cap="flat" cmpd="sng" w="9525">
            <a:solidFill>
              <a:srgbClr val="D8EBE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41248" y="4599432"/>
            <a:ext cx="310896" cy="310896"/>
          </a:xfrm>
          <a:prstGeom prst="ellipse">
            <a:avLst/>
          </a:prstGeom>
          <a:solidFill>
            <a:srgbClr val="C8F4F1"/>
          </a:solidFill>
          <a:ln cap="flat" cmpd="sng" w="12700">
            <a:solidFill>
              <a:srgbClr val="C9F2E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41248" y="4640580"/>
            <a:ext cx="310896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261872" y="4544568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7142E"/>
                </a:solidFill>
                <a:latin typeface="Arial"/>
                <a:ea typeface="Arial"/>
                <a:cs typeface="Arial"/>
                <a:sym typeface="Arial"/>
              </a:rPr>
              <a:t>Scrum Master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261872" y="4745736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52"/>
              <a:buFont typeface="Arial"/>
              <a:buNone/>
            </a:pPr>
            <a:r>
              <a:rPr lang="en-US" sz="953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Iván Díaz</a:t>
            </a:r>
            <a:endParaRPr sz="9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52"/>
              <a:buFont typeface="Arial"/>
              <a:buNone/>
            </a:pPr>
            <a:r>
              <a:rPr lang="en-US" sz="953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coordina la metodología y seguimiento.</a:t>
            </a:r>
            <a:endParaRPr sz="9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58368" y="5202936"/>
            <a:ext cx="4937760" cy="603504"/>
          </a:xfrm>
          <a:prstGeom prst="roundRect">
            <a:avLst>
              <a:gd fmla="val 12121" name="adj"/>
            </a:avLst>
          </a:prstGeom>
          <a:solidFill>
            <a:srgbClr val="F3FBFC">
              <a:alpha val="92157"/>
            </a:srgbClr>
          </a:solidFill>
          <a:ln cap="flat" cmpd="sng" w="9525">
            <a:solidFill>
              <a:srgbClr val="D8EBE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41248" y="5349240"/>
            <a:ext cx="310896" cy="310896"/>
          </a:xfrm>
          <a:prstGeom prst="ellipse">
            <a:avLst/>
          </a:prstGeom>
          <a:solidFill>
            <a:srgbClr val="C8F4F1"/>
          </a:solidFill>
          <a:ln cap="flat" cmpd="sng" w="12700">
            <a:solidFill>
              <a:srgbClr val="C9F2E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41248" y="5390388"/>
            <a:ext cx="310896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261872" y="5294376"/>
            <a:ext cx="1783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7142E"/>
                </a:solidFill>
                <a:latin typeface="Arial"/>
                <a:ea typeface="Arial"/>
                <a:cs typeface="Arial"/>
                <a:sym typeface="Arial"/>
              </a:rPr>
              <a:t>Developers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261872" y="5495544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52"/>
              <a:buFont typeface="Arial"/>
              <a:buNone/>
            </a:pPr>
            <a:r>
              <a:rPr lang="en-US" sz="953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Angelo Figueroa y Joaquín Valenzuela</a:t>
            </a:r>
            <a:endParaRPr sz="9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52"/>
              <a:buFont typeface="Arial"/>
              <a:buNone/>
            </a:pPr>
            <a:r>
              <a:rPr lang="en-US" sz="953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apoyan el desarrollo del incremento.</a:t>
            </a:r>
            <a:endParaRPr sz="9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58368" y="6245352"/>
            <a:ext cx="804672" cy="50292"/>
          </a:xfrm>
          <a:prstGeom prst="rect">
            <a:avLst/>
          </a:prstGeom>
          <a:solidFill>
            <a:srgbClr val="20BFB6"/>
          </a:solidFill>
          <a:ln cap="flat" cmpd="sng" w="12700">
            <a:solidFill>
              <a:srgbClr val="20BFB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58368" y="6446520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Trabajo incremental, revisado y mejorado en cada Sprint.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1658600" y="636422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AA7B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clean_corporate_tech_warehouse_workspace_sce.png" id="154" name="Google Shape;1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/>
          <p:nvPr/>
        </p:nvSpPr>
        <p:spPr>
          <a:xfrm>
            <a:off x="658368" y="713232"/>
            <a:ext cx="4297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CIERRE DE PRESENTACIÓN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58368" y="1298448"/>
            <a:ext cx="470916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07142E"/>
                </a:solidFill>
                <a:latin typeface="Play"/>
                <a:ea typeface="Play"/>
                <a:cs typeface="Play"/>
                <a:sym typeface="Play"/>
              </a:rPr>
              <a:t>Estado actual y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3000"/>
              <a:buFont typeface="Play"/>
              <a:buNone/>
            </a:pPr>
            <a:r>
              <a:rPr b="1" lang="en-US" sz="3000">
                <a:solidFill>
                  <a:srgbClr val="07142E"/>
                </a:solidFill>
                <a:latin typeface="Play"/>
                <a:ea typeface="Play"/>
                <a:cs typeface="Play"/>
                <a:sym typeface="Play"/>
              </a:rPr>
              <a:t>próximos pasos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58368" y="2468880"/>
            <a:ext cx="969264" cy="50292"/>
          </a:xfrm>
          <a:prstGeom prst="rect">
            <a:avLst/>
          </a:prstGeom>
          <a:solidFill>
            <a:srgbClr val="20BFB6"/>
          </a:solidFill>
          <a:ln cap="flat" cmpd="sng" w="12700">
            <a:solidFill>
              <a:srgbClr val="20BFB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58368" y="2743200"/>
            <a:ext cx="4800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1679"/>
              <a:buFont typeface="Arial"/>
              <a:buNone/>
            </a:pPr>
            <a:r>
              <a:rPr lang="en-US" sz="1680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La Fase 1 deja preparada la base documental y metodológica para comenzar el desarrollo de SmartStock en las siguientes etapas.</a:t>
            </a:r>
            <a:endParaRPr sz="16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58368" y="3730752"/>
            <a:ext cx="4937760" cy="566928"/>
          </a:xfrm>
          <a:prstGeom prst="roundRect">
            <a:avLst>
              <a:gd fmla="val 12903" name="adj"/>
            </a:avLst>
          </a:prstGeom>
          <a:solidFill>
            <a:srgbClr val="F3FBFC">
              <a:alpha val="92157"/>
            </a:srgbClr>
          </a:solidFill>
          <a:ln cap="flat" cmpd="sng" w="9525">
            <a:solidFill>
              <a:srgbClr val="D8EBE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32104" y="3877056"/>
            <a:ext cx="274320" cy="274320"/>
          </a:xfrm>
          <a:prstGeom prst="ellipse">
            <a:avLst/>
          </a:prstGeom>
          <a:solidFill>
            <a:srgbClr val="C8F4F1"/>
          </a:solidFill>
          <a:ln cap="flat" cmpd="sng" w="12700">
            <a:solidFill>
              <a:srgbClr val="C9F2E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832104" y="3913632"/>
            <a:ext cx="2743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1225296" y="380390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07142E"/>
                </a:solidFill>
                <a:latin typeface="Arial"/>
                <a:ea typeface="Arial"/>
                <a:cs typeface="Arial"/>
                <a:sym typeface="Arial"/>
              </a:rPr>
              <a:t>Fase 1 cerrada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225296" y="4059936"/>
            <a:ext cx="4160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Documentación, alcance, épicas, historias y Product Backlog consolidados.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58368" y="4370832"/>
            <a:ext cx="4937760" cy="566928"/>
          </a:xfrm>
          <a:prstGeom prst="roundRect">
            <a:avLst>
              <a:gd fmla="val 12903" name="adj"/>
            </a:avLst>
          </a:prstGeom>
          <a:solidFill>
            <a:srgbClr val="F3FBFC">
              <a:alpha val="92157"/>
            </a:srgbClr>
          </a:solidFill>
          <a:ln cap="flat" cmpd="sng" w="9525">
            <a:solidFill>
              <a:srgbClr val="D8EBE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832104" y="4517136"/>
            <a:ext cx="274320" cy="274320"/>
          </a:xfrm>
          <a:prstGeom prst="ellipse">
            <a:avLst/>
          </a:prstGeom>
          <a:solidFill>
            <a:srgbClr val="C8F4F1"/>
          </a:solidFill>
          <a:ln cap="flat" cmpd="sng" w="12700">
            <a:solidFill>
              <a:srgbClr val="C9F2E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832104" y="4553712"/>
            <a:ext cx="2743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225296" y="44439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07142E"/>
                </a:solidFill>
                <a:latin typeface="Arial"/>
                <a:ea typeface="Arial"/>
                <a:cs typeface="Arial"/>
                <a:sym typeface="Arial"/>
              </a:rPr>
              <a:t>Inicio Fase 2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225296" y="4700016"/>
            <a:ext cx="4160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Configuración del entorno, base de datos, autenticación y productos.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58368" y="5010912"/>
            <a:ext cx="4937760" cy="566928"/>
          </a:xfrm>
          <a:prstGeom prst="roundRect">
            <a:avLst>
              <a:gd fmla="val 12903" name="adj"/>
            </a:avLst>
          </a:prstGeom>
          <a:solidFill>
            <a:srgbClr val="F3FBFC">
              <a:alpha val="92157"/>
            </a:srgbClr>
          </a:solidFill>
          <a:ln cap="flat" cmpd="sng" w="9525">
            <a:solidFill>
              <a:srgbClr val="D8EBE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32104" y="5157216"/>
            <a:ext cx="274320" cy="274320"/>
          </a:xfrm>
          <a:prstGeom prst="ellipse">
            <a:avLst/>
          </a:prstGeom>
          <a:solidFill>
            <a:srgbClr val="C8F4F1"/>
          </a:solidFill>
          <a:ln cap="flat" cmpd="sng" w="12700">
            <a:solidFill>
              <a:srgbClr val="C9F2E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832104" y="5193792"/>
            <a:ext cx="2743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225295" y="5084064"/>
            <a:ext cx="286362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07142E"/>
                </a:solidFill>
                <a:latin typeface="Arial"/>
                <a:ea typeface="Arial"/>
                <a:cs typeface="Arial"/>
                <a:sym typeface="Arial"/>
              </a:rPr>
              <a:t>Construcción incremental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1225296" y="5340096"/>
            <a:ext cx="4160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Módulos de inventario, movimientos, alertas, trazabilidad y ajustes.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58368" y="5650992"/>
            <a:ext cx="4937760" cy="566928"/>
          </a:xfrm>
          <a:prstGeom prst="roundRect">
            <a:avLst>
              <a:gd fmla="val 12903" name="adj"/>
            </a:avLst>
          </a:prstGeom>
          <a:solidFill>
            <a:srgbClr val="F3FBFC">
              <a:alpha val="92157"/>
            </a:srgbClr>
          </a:solidFill>
          <a:ln cap="flat" cmpd="sng" w="9525">
            <a:solidFill>
              <a:srgbClr val="D8EBEE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832104" y="5797296"/>
            <a:ext cx="274320" cy="274320"/>
          </a:xfrm>
          <a:prstGeom prst="ellipse">
            <a:avLst/>
          </a:prstGeom>
          <a:solidFill>
            <a:srgbClr val="C8F4F1"/>
          </a:solidFill>
          <a:ln cap="flat" cmpd="sng" w="12700">
            <a:solidFill>
              <a:srgbClr val="C9F2E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832104" y="5833872"/>
            <a:ext cx="2743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79B94"/>
              </a:buClr>
              <a:buSzPts val="820"/>
              <a:buFont typeface="Arial"/>
              <a:buNone/>
            </a:pPr>
            <a:r>
              <a:rPr b="1" lang="en-US" sz="820">
                <a:solidFill>
                  <a:srgbClr val="079B9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225296" y="572414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7142E"/>
              </a:buClr>
              <a:buSzPts val="1260"/>
              <a:buFont typeface="Arial"/>
              <a:buNone/>
            </a:pPr>
            <a:r>
              <a:rPr b="1" lang="en-US" sz="1260">
                <a:solidFill>
                  <a:srgbClr val="07142E"/>
                </a:solidFill>
                <a:latin typeface="Arial"/>
                <a:ea typeface="Arial"/>
                <a:cs typeface="Arial"/>
                <a:sym typeface="Arial"/>
              </a:rPr>
              <a:t>Entrega final</a:t>
            </a:r>
            <a:endParaRPr sz="126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1225296" y="5980176"/>
            <a:ext cx="4160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0516B"/>
              </a:buClr>
              <a:buSzPts val="920"/>
              <a:buFont typeface="Arial"/>
              <a:buNone/>
            </a:pPr>
            <a:r>
              <a:rPr lang="en-US" sz="920">
                <a:solidFill>
                  <a:srgbClr val="40516B"/>
                </a:solidFill>
                <a:latin typeface="Arial"/>
                <a:ea typeface="Arial"/>
                <a:cs typeface="Arial"/>
                <a:sym typeface="Arial"/>
              </a:rPr>
              <a:t>Integración, pruebas, correcciones, despliegue y presentación del sistema.</a:t>
            </a:r>
            <a:endParaRPr sz="9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1658600" y="6364224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AA7B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2026-09-10T02:23:23Z</dcterms:created>
  <dc:creator>OpenAI</dc:creator>
</cp:coreProperties>
</file>